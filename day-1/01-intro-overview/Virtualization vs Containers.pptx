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Plus Jakarta Sans ExtraBold"/>
      <p:bold r:id="rId15"/>
      <p:boldItalic r:id="rId16"/>
    </p:embeddedFont>
    <p:embeddedFont>
      <p:font typeface="Plus Jakarta Sans"/>
      <p:regular r:id="rId17"/>
      <p:bold r:id="rId18"/>
      <p:italic r:id="rId19"/>
      <p:boldItalic r:id="rId20"/>
    </p:embeddedFont>
    <p:embeddedFont>
      <p:font typeface="JetBrains Mono SemiBold"/>
      <p:regular r:id="rId21"/>
      <p:bold r:id="rId22"/>
      <p:italic r:id="rId23"/>
      <p:boldItalic r:id="rId24"/>
    </p:embeddedFont>
    <p:embeddedFont>
      <p:font typeface="Plus Jakarta Sans SemiBold"/>
      <p:regular r:id="rId25"/>
      <p:bold r:id="rId26"/>
      <p:italic r:id="rId27"/>
      <p:boldItalic r:id="rId28"/>
    </p:embeddedFont>
    <p:embeddedFont>
      <p:font typeface="Plus Jakarta Sans Medium"/>
      <p:regular r:id="rId29"/>
      <p:bold r:id="rId30"/>
      <p:italic r:id="rId31"/>
      <p:boldItalic r:id="rId32"/>
    </p:embeddedFont>
    <p:embeddedFont>
      <p:font typeface="JetBrains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869C92-6280-46D4-9D22-12834120058E}">
  <a:tblStyle styleId="{F2869C92-6280-46D4-9D22-1283412005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Italic.fntdata"/><Relationship Id="rId22" Type="http://schemas.openxmlformats.org/officeDocument/2006/relationships/font" Target="fonts/JetBrainsMonoSemiBold-bold.fntdata"/><Relationship Id="rId21" Type="http://schemas.openxmlformats.org/officeDocument/2006/relationships/font" Target="fonts/JetBrainsMonoSemiBold-regular.fntdata"/><Relationship Id="rId24" Type="http://schemas.openxmlformats.org/officeDocument/2006/relationships/font" Target="fonts/JetBrainsMonoSemiBold-boldItalic.fntdata"/><Relationship Id="rId23" Type="http://schemas.openxmlformats.org/officeDocument/2006/relationships/font" Target="fonts/JetBrainsMono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SemiBold-bold.fntdata"/><Relationship Id="rId25" Type="http://schemas.openxmlformats.org/officeDocument/2006/relationships/font" Target="fonts/PlusJakartaSansSemiBold-regular.fntdata"/><Relationship Id="rId28" Type="http://schemas.openxmlformats.org/officeDocument/2006/relationships/font" Target="fonts/PlusJakartaSansSemiBold-boldItalic.fntdata"/><Relationship Id="rId27" Type="http://schemas.openxmlformats.org/officeDocument/2006/relationships/font" Target="fonts/PlusJakartaSans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Medium-italic.fntdata"/><Relationship Id="rId30" Type="http://schemas.openxmlformats.org/officeDocument/2006/relationships/font" Target="fonts/PlusJakartaSansMedium-bold.fntdata"/><Relationship Id="rId11" Type="http://schemas.openxmlformats.org/officeDocument/2006/relationships/slide" Target="slides/slide5.xml"/><Relationship Id="rId33" Type="http://schemas.openxmlformats.org/officeDocument/2006/relationships/font" Target="fonts/JetBrainsMono-regular.fntdata"/><Relationship Id="rId10" Type="http://schemas.openxmlformats.org/officeDocument/2006/relationships/slide" Target="slides/slide4.xml"/><Relationship Id="rId32" Type="http://schemas.openxmlformats.org/officeDocument/2006/relationships/font" Target="fonts/PlusJakartaSansMedium-boldItalic.fntdata"/><Relationship Id="rId13" Type="http://schemas.openxmlformats.org/officeDocument/2006/relationships/slide" Target="slides/slide7.xml"/><Relationship Id="rId35" Type="http://schemas.openxmlformats.org/officeDocument/2006/relationships/font" Target="fonts/JetBrainsMono-italic.fntdata"/><Relationship Id="rId12" Type="http://schemas.openxmlformats.org/officeDocument/2006/relationships/slide" Target="slides/slide6.xml"/><Relationship Id="rId34" Type="http://schemas.openxmlformats.org/officeDocument/2006/relationships/font" Target="fonts/JetBrainsMono-bold.fntdata"/><Relationship Id="rId15" Type="http://schemas.openxmlformats.org/officeDocument/2006/relationships/font" Target="fonts/PlusJakartaSansExtraBold-bold.fntdata"/><Relationship Id="rId14" Type="http://schemas.openxmlformats.org/officeDocument/2006/relationships/slide" Target="slides/slide8.xml"/><Relationship Id="rId36" Type="http://schemas.openxmlformats.org/officeDocument/2006/relationships/font" Target="fonts/JetBrainsMono-boldItalic.fntdata"/><Relationship Id="rId17" Type="http://schemas.openxmlformats.org/officeDocument/2006/relationships/font" Target="fonts/PlusJakartaSans-regular.fntdata"/><Relationship Id="rId16" Type="http://schemas.openxmlformats.org/officeDocument/2006/relationships/font" Target="fonts/PlusJakartaSansExtraBold-boldItalic.fntdata"/><Relationship Id="rId19" Type="http://schemas.openxmlformats.org/officeDocument/2006/relationships/font" Target="fonts/PlusJakartaSans-italic.fntdata"/><Relationship Id="rId18" Type="http://schemas.openxmlformats.org/officeDocument/2006/relationships/font" Target="fonts/PlusJakarta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Relationship Id="rId4" Type="http://schemas.openxmlformats.org/officeDocument/2006/relationships/image" Target="../media/image9.png"/><Relationship Id="rId11" Type="http://schemas.openxmlformats.org/officeDocument/2006/relationships/image" Target="../media/image7.png"/><Relationship Id="rId10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16.png"/><Relationship Id="rId11" Type="http://schemas.openxmlformats.org/officeDocument/2006/relationships/image" Target="../media/image6.png"/><Relationship Id="rId10" Type="http://schemas.openxmlformats.org/officeDocument/2006/relationships/image" Target="../media/image12.png"/><Relationship Id="rId21" Type="http://schemas.openxmlformats.org/officeDocument/2006/relationships/image" Target="../media/image24.png"/><Relationship Id="rId13" Type="http://schemas.openxmlformats.org/officeDocument/2006/relationships/image" Target="../media/image19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4.png"/><Relationship Id="rId9" Type="http://schemas.openxmlformats.org/officeDocument/2006/relationships/image" Target="../media/image2.png"/><Relationship Id="rId15" Type="http://schemas.openxmlformats.org/officeDocument/2006/relationships/image" Target="../media/image20.png"/><Relationship Id="rId14" Type="http://schemas.openxmlformats.org/officeDocument/2006/relationships/image" Target="../media/image61.png"/><Relationship Id="rId17" Type="http://schemas.openxmlformats.org/officeDocument/2006/relationships/image" Target="../media/image51.png"/><Relationship Id="rId16" Type="http://schemas.openxmlformats.org/officeDocument/2006/relationships/image" Target="../media/image30.png"/><Relationship Id="rId5" Type="http://schemas.openxmlformats.org/officeDocument/2006/relationships/image" Target="../media/image18.png"/><Relationship Id="rId19" Type="http://schemas.openxmlformats.org/officeDocument/2006/relationships/image" Target="../media/image25.png"/><Relationship Id="rId6" Type="http://schemas.openxmlformats.org/officeDocument/2006/relationships/image" Target="../media/image17.png"/><Relationship Id="rId18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Relationship Id="rId4" Type="http://schemas.openxmlformats.org/officeDocument/2006/relationships/image" Target="../media/image62.png"/><Relationship Id="rId9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4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png"/><Relationship Id="rId10" Type="http://schemas.openxmlformats.org/officeDocument/2006/relationships/image" Target="../media/image33.png"/><Relationship Id="rId13" Type="http://schemas.openxmlformats.org/officeDocument/2006/relationships/image" Target="../media/image41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Relationship Id="rId15" Type="http://schemas.openxmlformats.org/officeDocument/2006/relationships/image" Target="../media/image48.png"/><Relationship Id="rId14" Type="http://schemas.openxmlformats.org/officeDocument/2006/relationships/image" Target="../media/image59.png"/><Relationship Id="rId5" Type="http://schemas.openxmlformats.org/officeDocument/2006/relationships/image" Target="../media/image36.png"/><Relationship Id="rId6" Type="http://schemas.openxmlformats.org/officeDocument/2006/relationships/image" Target="../media/image31.png"/><Relationship Id="rId7" Type="http://schemas.openxmlformats.org/officeDocument/2006/relationships/image" Target="../media/image34.png"/><Relationship Id="rId8" Type="http://schemas.openxmlformats.org/officeDocument/2006/relationships/image" Target="../media/image6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4.png"/><Relationship Id="rId7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56.png"/><Relationship Id="rId13" Type="http://schemas.openxmlformats.org/officeDocument/2006/relationships/image" Target="../media/image54.png"/><Relationship Id="rId1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64.png"/><Relationship Id="rId5" Type="http://schemas.openxmlformats.org/officeDocument/2006/relationships/image" Target="../media/image47.png"/><Relationship Id="rId6" Type="http://schemas.openxmlformats.org/officeDocument/2006/relationships/image" Target="../media/image53.png"/><Relationship Id="rId7" Type="http://schemas.openxmlformats.org/officeDocument/2006/relationships/image" Target="../media/image52.png"/><Relationship Id="rId8" Type="http://schemas.openxmlformats.org/officeDocument/2006/relationships/image" Target="../media/image6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38661"/>
            <a:ext cx="3549550" cy="2180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3338661"/>
            <a:ext cx="3549699" cy="2180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3338661"/>
            <a:ext cx="3549550" cy="2180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22936" y="1338560"/>
            <a:ext cx="2346126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625566" y="1767185"/>
            <a:ext cx="6940867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Virtualization vs Containers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052887" y="2527250"/>
            <a:ext cx="40862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The Evolution of Application Deployment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65811" y="1419522"/>
            <a:ext cx="1491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047750" y="3538686"/>
            <a:ext cx="30269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 Virtualization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806850" y="3538686"/>
            <a:ext cx="30070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Virtualization Era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575625" y="3538686"/>
            <a:ext cx="29769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Container Era</a:t>
            </a:r>
            <a:endParaRPr/>
          </a:p>
        </p:txBody>
      </p:sp>
      <p:pic>
        <p:nvPicPr>
          <p:cNvPr descr="image.png" id="95" name="Google Shape;95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050" y="356249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952500" y="3872061"/>
            <a:ext cx="2978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 Application per physical server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952500" y="4161532"/>
            <a:ext cx="2978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 hardware utilization (10-15%)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952500" y="4451002"/>
            <a:ext cx="2978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infrastructure costs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952500" y="4740473"/>
            <a:ext cx="2978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Slow &amp; complex scaling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952500" y="5029944"/>
            <a:ext cx="2978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Massive resource waste</a:t>
            </a:r>
            <a:endParaRPr/>
          </a:p>
        </p:txBody>
      </p:sp>
      <p:pic>
        <p:nvPicPr>
          <p:cNvPr descr="image.png" id="101" name="Google Shape;10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21100" y="3562498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4692550" y="3872061"/>
            <a:ext cx="29781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Multiple VMs on 1 physical host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4692550" y="4161532"/>
            <a:ext cx="29781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Hypervisor abstracts hardware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4692550" y="4451002"/>
            <a:ext cx="29781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workload isolation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4692550" y="4740473"/>
            <a:ext cx="29781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Improved resource utilization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4692550" y="5029944"/>
            <a:ext cx="29781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Easier infrastructure management</a:t>
            </a:r>
            <a:endParaRPr/>
          </a:p>
        </p:txBody>
      </p:sp>
      <p:pic>
        <p:nvPicPr>
          <p:cNvPr descr="image.png" id="107" name="Google Shape;107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61300" y="3562498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 txBox="1"/>
          <p:nvPr/>
        </p:nvSpPr>
        <p:spPr>
          <a:xfrm>
            <a:off x="8432750" y="3872061"/>
            <a:ext cx="2978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OS-level virtualization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8432750" y="4161532"/>
            <a:ext cx="2978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Near-instant startup times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8432750" y="4451002"/>
            <a:ext cx="2978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Lightweight footprint (MBs vs GBs)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8432750" y="4740473"/>
            <a:ext cx="2978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Unmatched cloud portability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8432750" y="5029944"/>
            <a:ext cx="2978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Ideal for modern microservices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781050" y="3872061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781050" y="416153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781050" y="445100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781050" y="4740473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781050" y="5029944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4521100" y="3872061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4521100" y="416153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4521100" y="445100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4521100" y="4740473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4521100" y="5029944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8261300" y="3872061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8261300" y="416153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8261300" y="445100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8261300" y="4740473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8261300" y="5029944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/>
          <p:nvPr/>
        </p:nvSpPr>
        <p:spPr>
          <a:xfrm>
            <a:off x="581025" y="1685032"/>
            <a:ext cx="11029950" cy="318135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4" name="Google Shape;134;p14"/>
          <p:cNvGraphicFramePr/>
          <p:nvPr/>
        </p:nvGraphicFramePr>
        <p:xfrm>
          <a:off x="581025" y="16850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{F2869C92-6280-46D4-9D22-12834120058E}</a:tableStyleId>
              </a:tblPr>
              <a:tblGrid>
                <a:gridCol w="2202050"/>
                <a:gridCol w="4404275"/>
                <a:gridCol w="4404575"/>
              </a:tblGrid>
              <a:tr h="45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8BDF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Dimension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8BDF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Virtual Machines (VMs)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8BDF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Containers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</a:tr>
              <a:tr h="45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8FAFC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Abstraction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Virtualize physical hardware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Virtualize host operating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8FAFC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OS Requirement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Each VM runs a complete Guest 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Share host OS kernel among instances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8FAFC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Size on Disk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Heavyweight (Gigabytes / GBs)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Lightweight (Megabytes / MBs)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8FAFC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Startup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Minutes (Full OS boot sequence)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Seconds or milliseconds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8FAFC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Resource Usage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 CPU/RAM allocation overhead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Minimal overhead, high density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8FAFC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Isolation Level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Strong hardware-level isolation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Process-level isolation (namespaces/cgroups)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35" name="Google Shape;13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" y="534828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 txBox="1"/>
          <p:nvPr/>
        </p:nvSpPr>
        <p:spPr>
          <a:xfrm>
            <a:off x="1143000" y="5218807"/>
            <a:ext cx="102298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Key Takeaway:</a:t>
            </a:r>
            <a:r>
              <a:rPr b="0" i="0" lang="en-US" sz="1200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VMs package an entire operating system along with the app. Containers package </a:t>
            </a:r>
            <a:r>
              <a:rPr b="0" i="1" lang="en-US" sz="1200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only</a:t>
            </a:r>
            <a:r>
              <a:rPr b="0" i="0" lang="en-US" sz="1200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the application code and its explicit dependencies.</a:t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590550" y="2113657"/>
            <a:ext cx="22020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2792610" y="2113657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7196881" y="2113657"/>
            <a:ext cx="44045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590550" y="2570857"/>
            <a:ext cx="22020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2792610" y="2570857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7196881" y="2570857"/>
            <a:ext cx="44045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590550" y="3028057"/>
            <a:ext cx="22020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2792610" y="3028057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7196881" y="3028057"/>
            <a:ext cx="44045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590550" y="3485257"/>
            <a:ext cx="22020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2792610" y="3485257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7196881" y="3485257"/>
            <a:ext cx="44045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590550" y="3942457"/>
            <a:ext cx="22020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2792610" y="3942457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7196881" y="3942457"/>
            <a:ext cx="44045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590550" y="4399657"/>
            <a:ext cx="22020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2792610" y="4399657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7196881" y="4399657"/>
            <a:ext cx="44045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Virtual Machines vs Containers</a:t>
            </a:r>
            <a:endParaRPr/>
          </a:p>
        </p:txBody>
      </p:sp>
      <p:sp>
        <p:nvSpPr>
          <p:cNvPr id="156" name="Google Shape;156;p14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176837"/>
            <a:ext cx="110299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28787"/>
            <a:ext cx="537210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728787"/>
            <a:ext cx="537210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 txBox="1"/>
          <p:nvPr/>
        </p:nvSpPr>
        <p:spPr>
          <a:xfrm>
            <a:off x="819150" y="5410200"/>
            <a:ext cx="2000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Cloud-Native Core Traits: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162050" y="2005012"/>
            <a:ext cx="47405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Monolithic Architecture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6877050" y="2005012"/>
            <a:ext cx="46805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Modern Cloud-Native</a:t>
            </a:r>
            <a:endParaRPr/>
          </a:p>
        </p:txBody>
      </p:sp>
      <p:pic>
        <p:nvPicPr>
          <p:cNvPr descr="image.png" id="168" name="Google Shape;16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5438775"/>
            <a:ext cx="1619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08586" y="5357812"/>
            <a:ext cx="154409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66978" y="5357812"/>
            <a:ext cx="131936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00639" y="5357812"/>
            <a:ext cx="135403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68978" y="5357812"/>
            <a:ext cx="114791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231189" y="5357812"/>
            <a:ext cx="114166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7250" y="203358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5"/>
          <p:cNvSpPr txBox="1"/>
          <p:nvPr/>
        </p:nvSpPr>
        <p:spPr>
          <a:xfrm>
            <a:off x="1123950" y="2424112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 Codebase &amp; Deployment: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Tightly coupled modules compiled together.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1123950" y="2995612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All-or-Nothing Scaling: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Must duplicate entire application stack to scale one feature.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1123950" y="3567112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Fragile Resilience: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single memory leak or crash can pull down the full system.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1123950" y="4138612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Slow Release Cycles: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Risk of regression delays production updates.</a:t>
            </a:r>
            <a:endParaRPr/>
          </a:p>
        </p:txBody>
      </p:sp>
      <p:pic>
        <p:nvPicPr>
          <p:cNvPr descr="image.png" id="179" name="Google Shape;179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15100" y="2033587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5"/>
          <p:cNvSpPr txBox="1"/>
          <p:nvPr/>
        </p:nvSpPr>
        <p:spPr>
          <a:xfrm>
            <a:off x="6781800" y="2424112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Microservices Design: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Independent services communicating via APIs (REST/gRPC).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6781800" y="2995612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Granular Horizontal Scaling: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Scale individual components (e.g., Payment vs Search).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6781800" y="3567112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Fault Isolation: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Failure in recommendations doesn't prevent user logins.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6781800" y="4138612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CI/CD Friendly: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Continuous deployment without customer downtime.</a:t>
            </a:r>
            <a:endParaRPr/>
          </a:p>
        </p:txBody>
      </p:sp>
      <p:pic>
        <p:nvPicPr>
          <p:cNvPr descr="image.png" id="184" name="Google Shape;184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513225" y="5435123"/>
            <a:ext cx="114300" cy="1274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146628" y="5448300"/>
            <a:ext cx="1586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643514" y="5438775"/>
            <a:ext cx="1300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111853" y="5438775"/>
            <a:ext cx="1300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280764" y="5436950"/>
            <a:ext cx="1110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57250" y="2457450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57250" y="3028950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57250" y="3600450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57250" y="4171950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515100" y="24574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515100" y="30289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515100" y="36004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515100" y="4171950"/>
            <a:ext cx="1143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5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Monoliths to Cloud-Native Architecture</a:t>
            </a: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966912"/>
            <a:ext cx="53721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/>
          <p:nvPr/>
        </p:nvSpPr>
        <p:spPr>
          <a:xfrm>
            <a:off x="581025" y="2197447"/>
            <a:ext cx="5372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Docker is an open platform that packages applications and all their runtime dependencies into standardized containers.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581025" y="2936527"/>
            <a:ext cx="564070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Components</a:t>
            </a:r>
            <a:endParaRPr/>
          </a:p>
        </p:txBody>
      </p:sp>
      <p:pic>
        <p:nvPicPr>
          <p:cNvPr descr="image.png" id="207" name="Google Shape;20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679602"/>
            <a:ext cx="53721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965102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 txBox="1"/>
          <p:nvPr/>
        </p:nvSpPr>
        <p:spPr>
          <a:xfrm>
            <a:off x="847725" y="3231802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Docker Engine: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core background runtime daemon.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847725" y="3574702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Dockerfile: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Text blueprint with step-by-step build instructions.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847725" y="3917602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Docker Image: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Read-only package template containing runtime code.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847725" y="4260502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Docker Hub: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Centralized public/private container image registry.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781050" y="4822477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TYPICAL WORKFLOW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781050" y="5051077"/>
            <a:ext cx="4505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Write Code Build Image Run Container Deploy Anywhere</a:t>
            </a:r>
            <a:endParaRPr/>
          </a:p>
        </p:txBody>
      </p:sp>
      <p:pic>
        <p:nvPicPr>
          <p:cNvPr descr="image.png" id="215" name="Google Shape;21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8400" y="1976437"/>
            <a:ext cx="53530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19250" y="507012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14625" y="507012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62400" y="507012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326514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360804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395094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293840"/>
            <a:ext cx="857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6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Introduction to Docker</a:t>
            </a:r>
            <a:endParaRPr/>
          </a:p>
        </p:txBody>
      </p:sp>
      <p:sp>
        <p:nvSpPr>
          <p:cNvPr id="224" name="Google Shape;224;p16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17181"/>
            <a:ext cx="11029950" cy="1785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650206"/>
            <a:ext cx="3549699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21224" y="1650206"/>
            <a:ext cx="3549699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1424" y="1650206"/>
            <a:ext cx="3549699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188833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7"/>
          <p:cNvSpPr txBox="1"/>
          <p:nvPr/>
        </p:nvSpPr>
        <p:spPr>
          <a:xfrm>
            <a:off x="819150" y="2497931"/>
            <a:ext cx="32271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Developer Workflow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819150" y="2831306"/>
            <a:ext cx="3073449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 source code, write a Dockerfile defining requirements, compile the image with docker build, run locally, and push to container registries.</a:t>
            </a:r>
            <a:endParaRPr/>
          </a:p>
        </p:txBody>
      </p:sp>
      <p:pic>
        <p:nvPicPr>
          <p:cNvPr descr="image.png" id="237" name="Google Shape;23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59349" y="188833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7"/>
          <p:cNvSpPr txBox="1"/>
          <p:nvPr/>
        </p:nvSpPr>
        <p:spPr>
          <a:xfrm>
            <a:off x="4559349" y="2497931"/>
            <a:ext cx="32271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App Examples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4559349" y="2831306"/>
            <a:ext cx="30734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 microservices like a Python </a:t>
            </a: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Flask API</a:t>
            </a: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returning JSON payloads or a lightweight </a:t>
            </a: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Node.js Express</a:t>
            </a: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server serving RESTful GET / routes.</a:t>
            </a:r>
            <a:endParaRPr/>
          </a:p>
        </p:txBody>
      </p:sp>
      <p:pic>
        <p:nvPicPr>
          <p:cNvPr descr="image.png" id="240" name="Google Shape;24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99549" y="188833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7"/>
          <p:cNvSpPr txBox="1"/>
          <p:nvPr/>
        </p:nvSpPr>
        <p:spPr>
          <a:xfrm>
            <a:off x="8299549" y="2497931"/>
            <a:ext cx="32271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Why Containerize?</a:t>
            </a:r>
            <a:endParaRPr/>
          </a:p>
        </p:txBody>
      </p:sp>
      <p:sp>
        <p:nvSpPr>
          <p:cNvPr id="242" name="Google Shape;242;p17"/>
          <p:cNvSpPr txBox="1"/>
          <p:nvPr/>
        </p:nvSpPr>
        <p:spPr>
          <a:xfrm>
            <a:off x="8299549" y="2831306"/>
            <a:ext cx="307344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Eliminates </a:t>
            </a:r>
            <a:r>
              <a:rPr b="0" i="1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"works on my machine"</a:t>
            </a: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bugs. Ensures identical OS libraries, language binaries, and environment dependencies across dev, staging, and production.</a:t>
            </a:r>
            <a:endParaRPr/>
          </a:p>
        </p:txBody>
      </p:sp>
      <p:pic>
        <p:nvPicPr>
          <p:cNvPr descr="image.png" id="243" name="Google Shape;24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225087" y="4355306"/>
            <a:ext cx="1147762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8687" y="2012156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54599" y="2012156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23374" y="2012156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19150" y="4383881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7"/>
          <p:cNvSpPr txBox="1"/>
          <p:nvPr/>
        </p:nvSpPr>
        <p:spPr>
          <a:xfrm>
            <a:off x="1133475" y="4412456"/>
            <a:ext cx="1295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Sample Dockerfile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Building Containerized Applications</a:t>
            </a:r>
            <a:endParaRPr/>
          </a:p>
        </p:txBody>
      </p:sp>
      <p:sp>
        <p:nvSpPr>
          <p:cNvPr id="250" name="Google Shape;250;p17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12602"/>
            <a:ext cx="54387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200" y="2012602"/>
            <a:ext cx="54387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907952"/>
            <a:ext cx="54387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2907952"/>
            <a:ext cx="54387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03302"/>
            <a:ext cx="54387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3803302"/>
            <a:ext cx="54387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504333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8"/>
          <p:cNvSpPr txBox="1"/>
          <p:nvPr/>
        </p:nvSpPr>
        <p:spPr>
          <a:xfrm>
            <a:off x="781050" y="2174527"/>
            <a:ext cx="5038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docker pull nginx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781050" y="2441227"/>
            <a:ext cx="5038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Download specified image template from Docker Hub registry.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6372225" y="2174527"/>
            <a:ext cx="5038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docker run -d -p 80:80 nginx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6372225" y="2441227"/>
            <a:ext cx="5038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Instantiate and execute container detached in background.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781050" y="3069877"/>
            <a:ext cx="5038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docker ps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781050" y="3336577"/>
            <a:ext cx="5038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List all currently active and running container processes.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6372225" y="3069877"/>
            <a:ext cx="5038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docker stop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6372225" y="3336577"/>
            <a:ext cx="5038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Send SIGTERM signal to gracefully halt executing container.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781050" y="3965227"/>
            <a:ext cx="5038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docker images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781050" y="4231927"/>
            <a:ext cx="5038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View all container image blueprints cached on local machine.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6372225" y="3965227"/>
            <a:ext cx="5038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docker rm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6372225" y="4231927"/>
            <a:ext cx="5038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Remove stopped container instance from local filesystem.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1200150" y="4860577"/>
            <a:ext cx="7401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Core Concept Distinction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1200188" y="5089177"/>
            <a:ext cx="7401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Images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are read-only blueprints/templates. </a:t>
            </a:r>
            <a:r>
              <a:rPr b="1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Containers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are isolated, runnable instances created from those templates.</a:t>
            </a:r>
            <a:endParaRPr/>
          </a:p>
        </p:txBody>
      </p:sp>
      <p:sp>
        <p:nvSpPr>
          <p:cNvPr id="277" name="Google Shape;277;p18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Running Containers Locally</a:t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168104"/>
            <a:ext cx="11029950" cy="1140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77504"/>
            <a:ext cx="16192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33700" y="2177504"/>
            <a:ext cx="16192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86375" y="2177504"/>
            <a:ext cx="16192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39050" y="2177504"/>
            <a:ext cx="16192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91725" y="2177504"/>
            <a:ext cx="16192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9"/>
          <p:cNvSpPr/>
          <p:nvPr/>
        </p:nvSpPr>
        <p:spPr>
          <a:xfrm>
            <a:off x="962025" y="2515641"/>
            <a:ext cx="10267950" cy="285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819150" y="3406229"/>
            <a:ext cx="1108138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Essential Production Concept: Ephemerality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819150" y="3644354"/>
            <a:ext cx="105537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Containers are designed to be ephemeral (short-lived). Orchestrators like Kubernetes or OpenShift destroy and recreate failed containers automatically. Persistent data must always reside in external </a:t>
            </a:r>
            <a:r>
              <a:rPr b="1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volumes, databases, or object storage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92" name="Google Shape;292;p19"/>
          <p:cNvSpPr txBox="1"/>
          <p:nvPr/>
        </p:nvSpPr>
        <p:spPr>
          <a:xfrm>
            <a:off x="790575" y="2348954"/>
            <a:ext cx="1200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790575" y="2568029"/>
            <a:ext cx="1200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Read-only Blueprint</a:t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3143250" y="2348954"/>
            <a:ext cx="1200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Created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3143250" y="2568029"/>
            <a:ext cx="1200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Allocated Sandbox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5495925" y="2348954"/>
            <a:ext cx="1200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Running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5495925" y="2568029"/>
            <a:ext cx="1200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 Executing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7848600" y="2348954"/>
            <a:ext cx="1200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Stopped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7848600" y="2568029"/>
            <a:ext cx="1200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 Halted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10201275" y="2348954"/>
            <a:ext cx="1200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Removed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10201275" y="2568029"/>
            <a:ext cx="1200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Storage Cleaned</a:t>
            </a:r>
            <a:endParaRPr/>
          </a:p>
        </p:txBody>
      </p:sp>
      <p:pic>
        <p:nvPicPr>
          <p:cNvPr descr="image.png" id="302" name="Google Shape;30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43480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04900" y="2377529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67087" y="237752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43575" y="2377529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81962" y="2377529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391775" y="2377529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9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Understanding Container Lifecycle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5383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0"/>
          <p:cNvSpPr txBox="1"/>
          <p:nvPr/>
        </p:nvSpPr>
        <p:spPr>
          <a:xfrm>
            <a:off x="1676400" y="353184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https://www.mdpi.com/applsci/applsci-12-06737/article_deploy/html/images/applsci-12-06737-g001-550.jpg</a:t>
            </a:r>
            <a:endParaRPr/>
          </a:p>
        </p:txBody>
      </p:sp>
      <p:sp>
        <p:nvSpPr>
          <p:cNvPr id="317" name="Google Shape;317;p20"/>
          <p:cNvSpPr txBox="1"/>
          <p:nvPr/>
        </p:nvSpPr>
        <p:spPr>
          <a:xfrm>
            <a:off x="1676400" y="377755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www.mdpi.com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Image Sources</a:t>
            </a:r>
            <a:endParaRPr/>
          </a:p>
        </p:txBody>
      </p:sp>
      <p:sp>
        <p:nvSpPr>
          <p:cNvPr id="319" name="Google Shape;319;p20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